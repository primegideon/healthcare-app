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Space Grotesk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paceGrotesk-bold.fntdata"/><Relationship Id="rId6" Type="http://schemas.openxmlformats.org/officeDocument/2006/relationships/slide" Target="slides/slide1.xml"/><Relationship Id="rId18" Type="http://schemas.openxmlformats.org/officeDocument/2006/relationships/font" Target="fonts/SpaceGrotes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F3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14400" y="3887985"/>
            <a:ext cx="7620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1617464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RIVERSIDE GENERAL HOSPITAL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2074664"/>
            <a:ext cx="10101262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Serverless Patient Records System on AWS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4402335"/>
            <a:ext cx="2047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AAB"/>
                </a:solidFill>
                <a:latin typeface="Inter"/>
                <a:ea typeface="Inter"/>
                <a:cs typeface="Inter"/>
                <a:sym typeface="Inter"/>
              </a:rPr>
              <a:t>LEAD DEVELOPER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4669035"/>
            <a:ext cx="2047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Gideon Amoah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62300" y="4402335"/>
            <a:ext cx="210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A9AAB"/>
                </a:solidFill>
                <a:latin typeface="Inter"/>
                <a:ea typeface="Inter"/>
                <a:cs typeface="Inter"/>
                <a:sym typeface="Inter"/>
              </a:rPr>
              <a:t>ACTIVE MEMBERS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162300" y="4669035"/>
            <a:ext cx="1781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Christopher Dery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Stephen Kofi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457825" y="4402335"/>
            <a:ext cx="239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A9AAB"/>
                </a:solidFill>
                <a:latin typeface="Inter"/>
                <a:ea typeface="Inter"/>
                <a:cs typeface="Inter"/>
                <a:sym typeface="Inter"/>
              </a:rPr>
              <a:t>ACTIVE MEMBERS</a:t>
            </a:r>
            <a:endParaRPr sz="1200">
              <a:solidFill>
                <a:srgbClr val="8A9AA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457825" y="4669035"/>
            <a:ext cx="20097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Evelyn Boahemaa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Amoako Ernest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914400" y="2295525"/>
            <a:ext cx="3251150" cy="3800475"/>
          </a:xfrm>
          <a:prstGeom prst="roundRect">
            <a:avLst>
              <a:gd fmla="val 234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4470350" y="2295525"/>
            <a:ext cx="3251150" cy="3800475"/>
          </a:xfrm>
          <a:prstGeom prst="roundRect">
            <a:avLst>
              <a:gd fmla="val 234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8026300" y="2295525"/>
            <a:ext cx="3251150" cy="3800475"/>
          </a:xfrm>
          <a:prstGeom prst="roundRect">
            <a:avLst>
              <a:gd fmla="val 234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914400" y="2295525"/>
            <a:ext cx="325115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470350" y="2295525"/>
            <a:ext cx="3251150" cy="381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026300" y="2295525"/>
            <a:ext cx="3251150" cy="381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7908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1350" y="27908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7300" y="27908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914400" y="762000"/>
            <a:ext cx="1127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1104900"/>
            <a:ext cx="112776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Statement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295400" y="3400425"/>
            <a:ext cx="32670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Process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95400" y="3895725"/>
            <a:ext cx="25844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Reliance on physical paper folders and shared spreadsheets for admissions.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851350" y="3400425"/>
            <a:ext cx="32670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Impacted Staff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851350" y="3895725"/>
            <a:ext cx="25844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Front-desk nurses, attending doctors, and hospital administrators.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407300" y="3400425"/>
            <a:ext cx="32670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Risks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407300" y="3895725"/>
            <a:ext cx="25844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Slow admissions, lost records, zero real-time tracking, and severe HIPAA non-compliance.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5151090" y="762000"/>
            <a:ext cx="6126509" cy="5334000"/>
          </a:xfrm>
          <a:prstGeom prst="roundRect">
            <a:avLst>
              <a:gd fmla="val 214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379690" y="990600"/>
            <a:ext cx="5669309" cy="4876800"/>
          </a:xfrm>
          <a:prstGeom prst="roundRect">
            <a:avLst>
              <a:gd fmla="val 1562" name="adj"/>
            </a:avLst>
          </a:prstGeom>
          <a:solidFill>
            <a:srgbClr val="F8FAFC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470" y="27336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9726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410616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501104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14400" y="1046857"/>
            <a:ext cx="47243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PROPOSED SOLUTION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14400" y="1389757"/>
            <a:ext cx="4068477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100% Serverless Web Application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037933" y="3571875"/>
            <a:ext cx="29408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Architecture Diagram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099845" y="3924300"/>
            <a:ext cx="2786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(Uploaded to Google Drive)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371600" y="2944117"/>
            <a:ext cx="43605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Compute &amp; Database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371600" y="3315592"/>
            <a:ext cx="34175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AWS Lambda and Amazon DynamoDB.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428750" y="4077592"/>
            <a:ext cx="352544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Hosting &amp; Routing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428750" y="4449067"/>
            <a:ext cx="33575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Amazon S3 and API Gateway.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371600" y="4982467"/>
            <a:ext cx="43605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Security Overlay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371600" y="5353942"/>
            <a:ext cx="34175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Amazon Cognito (Auth) &amp; CloudFront (CDN/HTTPS).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914400" y="2295525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914400" y="3133725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914400" y="3971925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914400" y="4810125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914400" y="5648325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914400" y="762000"/>
            <a:ext cx="1127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EXECUTION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14400" y="1104900"/>
            <a:ext cx="112776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Methodology &amp; Implementation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71525" y="2295525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71525" y="3133725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71525" y="3971925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71525" y="4810125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71525" y="5648325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828800" y="2319337"/>
            <a:ext cx="87260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1: Data Architecture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828800" y="2652712"/>
            <a:ext cx="83105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Created DynamoDB PatientRecords table using patientId as partition key.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828800" y="3157537"/>
            <a:ext cx="790098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2: Compute &amp; IAM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828800" y="3490912"/>
            <a:ext cx="7524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Deployed 4 Lambda functions with strict least-privilege IAM roles.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828800" y="3995737"/>
            <a:ext cx="888861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3: Routing &amp; Integration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828800" y="4329112"/>
            <a:ext cx="84653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Configured API Gateway with CORS and direct Lambda proxy integrations.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828800" y="4833937"/>
            <a:ext cx="677584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4: Frontend Hosting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828800" y="5167312"/>
            <a:ext cx="64531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Deployed the HTML/JS application to a public S3 bucket.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828800" y="5672137"/>
            <a:ext cx="863857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5: Security Hardening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828800" y="6005512"/>
            <a:ext cx="82272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Locked down application access using Amazon Cognito and CloudFront.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/>
          <p:nvPr/>
        </p:nvSpPr>
        <p:spPr>
          <a:xfrm>
            <a:off x="914400" y="762000"/>
            <a:ext cx="5105400" cy="5334000"/>
          </a:xfrm>
          <a:prstGeom prst="roundRect">
            <a:avLst>
              <a:gd fmla="val 22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1066800" y="914400"/>
            <a:ext cx="4800600" cy="5029200"/>
          </a:xfrm>
          <a:prstGeom prst="roundRect">
            <a:avLst>
              <a:gd fmla="val 1587" name="adj"/>
            </a:avLst>
          </a:prstGeom>
          <a:solidFill>
            <a:srgbClr val="F8FAFC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477000" y="3665190"/>
            <a:ext cx="2057400" cy="876300"/>
          </a:xfrm>
          <a:prstGeom prst="roundRect">
            <a:avLst>
              <a:gd fmla="val 8695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8763000" y="3665190"/>
            <a:ext cx="1647825" cy="876300"/>
          </a:xfrm>
          <a:prstGeom prst="roundRect">
            <a:avLst>
              <a:gd fmla="val 869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2300" y="273367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6477000" y="1230659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477000" y="1573559"/>
            <a:ext cx="5715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Testing &amp; Results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2128837" y="3571875"/>
            <a:ext cx="334565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Testing Network Results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2352675" y="3924300"/>
            <a:ext cx="2786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(Uploaded to Google Drive)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477000" y="2579340"/>
            <a:ext cx="5715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Scope of Testing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477000" y="2903190"/>
            <a:ext cx="4895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 CRUD operations verified via live website and API Gateway endpoints.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477000" y="4846290"/>
            <a:ext cx="5715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Edge Cases Secured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477000" y="5170140"/>
            <a:ext cx="4895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Duplicate ID creation and invalid requests successfully blocked.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705600" y="3817590"/>
            <a:ext cx="2000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200 / 201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705600" y="4198590"/>
            <a:ext cx="200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Successful Operations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991600" y="3817590"/>
            <a:ext cx="148828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409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991600" y="4198590"/>
            <a:ext cx="14882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Conflict Blocked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/>
          <p:nvPr/>
        </p:nvSpPr>
        <p:spPr>
          <a:xfrm>
            <a:off x="914400" y="4364533"/>
            <a:ext cx="10363200" cy="1731466"/>
          </a:xfrm>
          <a:prstGeom prst="roundRect">
            <a:avLst>
              <a:gd fmla="val 6601" name="adj"/>
            </a:avLst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914400" y="2143125"/>
            <a:ext cx="32511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470350" y="2143125"/>
            <a:ext cx="32511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026300" y="2143125"/>
            <a:ext cx="32511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914400" y="2143125"/>
            <a:ext cx="38100" cy="1095375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470350" y="2143125"/>
            <a:ext cx="38100" cy="1095375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8026300" y="2143125"/>
            <a:ext cx="38100" cy="1095375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5001666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914400" y="762000"/>
            <a:ext cx="1127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RETROSPECTIVE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914400" y="1104900"/>
            <a:ext cx="112776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Challenges &amp; Lessons Learned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181100" y="2143125"/>
            <a:ext cx="391709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Challenge 1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181100" y="2552700"/>
            <a:ext cx="307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Resolving CORS errors between S3 frontend and API Gateway.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4737050" y="2143125"/>
            <a:ext cx="391709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Challenge 2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4737050" y="2552700"/>
            <a:ext cx="3079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Ensuring API Gateway passed data to Lambda in the correct JSON format.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8293000" y="2143125"/>
            <a:ext cx="38989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Challenge 3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8293000" y="2552700"/>
            <a:ext cx="3079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Managing CloudFront caching behavior during live CSS updates.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1943100" y="4745533"/>
            <a:ext cx="10248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CORE TAKEAWAY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943100" y="5021758"/>
            <a:ext cx="9048750" cy="69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IAM least-privilege is critical for security, and serverless architecture completely eliminates infrastructure maintenance.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/>
          <p:nvPr/>
        </p:nvSpPr>
        <p:spPr>
          <a:xfrm>
            <a:off x="914400" y="2619375"/>
            <a:ext cx="3251150" cy="3152775"/>
          </a:xfrm>
          <a:prstGeom prst="roundRect">
            <a:avLst>
              <a:gd fmla="val 241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470350" y="2486025"/>
            <a:ext cx="3251150" cy="3419475"/>
          </a:xfrm>
          <a:prstGeom prst="roundRect">
            <a:avLst>
              <a:gd fmla="val 23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8026300" y="2486025"/>
            <a:ext cx="3251150" cy="3419475"/>
          </a:xfrm>
          <a:prstGeom prst="roundRect">
            <a:avLst>
              <a:gd fmla="val 23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8900" y="307657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851" y="29432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70801" y="29432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87500" y="33051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62501" y="317182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99401" y="31718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914400" y="762000"/>
            <a:ext cx="1127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ROADMAP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914400" y="1104900"/>
            <a:ext cx="112776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Improvements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906470" y="4067175"/>
            <a:ext cx="326700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AWS WAF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984256" y="4514850"/>
            <a:ext cx="31114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Protect API Gateway and CloudFront distributions from malicious attacks.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4462420" y="3933825"/>
            <a:ext cx="326700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AWS Backup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4540206" y="4381500"/>
            <a:ext cx="311143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Schedule automated, cross-region DynamoDB backups for disaster recovery.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018371" y="3933825"/>
            <a:ext cx="326700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Amazon Bedrock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8096156" y="4381500"/>
            <a:ext cx="311143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Analyze historical diagnosis data to predict seasonal admission spikes.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F3E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/>
          <p:nvPr/>
        </p:nvSpPr>
        <p:spPr>
          <a:xfrm>
            <a:off x="1995487" y="4186237"/>
            <a:ext cx="8201025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1995487" y="4186237"/>
            <a:ext cx="82010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3620690" y="2005012"/>
            <a:ext cx="4950618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4113609" y="3205162"/>
            <a:ext cx="396478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Questions &amp; Answers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845468" y="4652962"/>
            <a:ext cx="1500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A9AAB"/>
                </a:solidFill>
                <a:latin typeface="Inter"/>
                <a:ea typeface="Inter"/>
                <a:cs typeface="Inter"/>
                <a:sym typeface="Inter"/>
              </a:rPr>
              <a:t>Gideon Amoah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3476625" y="4652962"/>
            <a:ext cx="1762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A9AAB"/>
                </a:solidFill>
                <a:latin typeface="Inter"/>
                <a:ea typeface="Inter"/>
                <a:cs typeface="Inter"/>
                <a:sym typeface="Inter"/>
              </a:rPr>
              <a:t>Christopher Dery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5376862" y="4652962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A9AAB"/>
                </a:solidFill>
                <a:latin typeface="Inter"/>
                <a:ea typeface="Inter"/>
                <a:cs typeface="Inter"/>
                <a:sym typeface="Inter"/>
              </a:rPr>
              <a:t>Stephen Kofi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852046" y="4652962"/>
            <a:ext cx="18216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A9AAB"/>
                </a:solidFill>
                <a:latin typeface="Inter"/>
                <a:ea typeface="Inter"/>
                <a:cs typeface="Inter"/>
                <a:sym typeface="Inter"/>
              </a:rPr>
              <a:t>Evelyn Boahemaa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8792765" y="4652962"/>
            <a:ext cx="15597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A9AAB"/>
                </a:solidFill>
                <a:latin typeface="Inter"/>
                <a:ea typeface="Inter"/>
                <a:cs typeface="Inter"/>
                <a:sym typeface="Inter"/>
              </a:rPr>
              <a:t>Amoako Ernest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